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74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8CC8FB-F8DB-417C-9EB5-44852EADB4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F6C628-92AD-49E3-92F0-F69B1D4752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Pager rotation is an on‑call schedule where team members take turns responding to alerts and incidents. </a:t>
          </a:r>
        </a:p>
      </dgm:t>
    </dgm:pt>
    <dgm:pt modelId="{C9086FDC-85C2-44BC-BD24-E9EAF4C2F83D}" type="parTrans" cxnId="{58985B1F-5EA0-415D-9F50-5DAB19ED5AF4}">
      <dgm:prSet/>
      <dgm:spPr/>
      <dgm:t>
        <a:bodyPr/>
        <a:lstStyle/>
        <a:p>
          <a:endParaRPr lang="en-US"/>
        </a:p>
      </dgm:t>
    </dgm:pt>
    <dgm:pt modelId="{30C5EB76-81E2-49B8-959F-C499D8961D95}" type="sibTrans" cxnId="{58985B1F-5EA0-415D-9F50-5DAB19ED5AF4}">
      <dgm:prSet/>
      <dgm:spPr/>
      <dgm:t>
        <a:bodyPr/>
        <a:lstStyle/>
        <a:p>
          <a:endParaRPr lang="en-US"/>
        </a:p>
      </dgm:t>
    </dgm:pt>
    <dgm:pt modelId="{87CE91FB-4DA1-4E2F-8B35-506FB1F7F1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ensures that someone is always available to handle system issues and maintain 24/7 service availability.</a:t>
          </a:r>
        </a:p>
      </dgm:t>
    </dgm:pt>
    <dgm:pt modelId="{57163310-7627-49BD-B8D9-DAB0B757D1D9}" type="parTrans" cxnId="{C875AF55-E056-4549-9F61-89FCA8E6A018}">
      <dgm:prSet/>
      <dgm:spPr/>
      <dgm:t>
        <a:bodyPr/>
        <a:lstStyle/>
        <a:p>
          <a:endParaRPr lang="en-US"/>
        </a:p>
      </dgm:t>
    </dgm:pt>
    <dgm:pt modelId="{15C70A96-0176-43C8-87EE-93B01D2B5A43}" type="sibTrans" cxnId="{C875AF55-E056-4549-9F61-89FCA8E6A018}">
      <dgm:prSet/>
      <dgm:spPr/>
      <dgm:t>
        <a:bodyPr/>
        <a:lstStyle/>
        <a:p>
          <a:endParaRPr lang="en-US"/>
        </a:p>
      </dgm:t>
    </dgm:pt>
    <dgm:pt modelId="{9FECBE49-EDD8-4A1B-8B8C-29573B2A926F}" type="pres">
      <dgm:prSet presAssocID="{348CC8FB-F8DB-417C-9EB5-44852EADB467}" presName="root" presStyleCnt="0">
        <dgm:presLayoutVars>
          <dgm:dir/>
          <dgm:resizeHandles val="exact"/>
        </dgm:presLayoutVars>
      </dgm:prSet>
      <dgm:spPr/>
    </dgm:pt>
    <dgm:pt modelId="{E4AA496B-5C68-47A0-B002-8083817F0B5D}" type="pres">
      <dgm:prSet presAssocID="{60F6C628-92AD-49E3-92F0-F69B1D47526C}" presName="compNode" presStyleCnt="0"/>
      <dgm:spPr/>
    </dgm:pt>
    <dgm:pt modelId="{A9EF8858-BAFC-427A-B8B1-0D4ACA366F96}" type="pres">
      <dgm:prSet presAssocID="{60F6C628-92AD-49E3-92F0-F69B1D47526C}" presName="bgRect" presStyleLbl="bgShp" presStyleIdx="0" presStyleCnt="2"/>
      <dgm:spPr/>
    </dgm:pt>
    <dgm:pt modelId="{ED4C8DCF-3BFB-4E67-BF40-337B9B8EA320}" type="pres">
      <dgm:prSet presAssocID="{60F6C628-92AD-49E3-92F0-F69B1D47526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1C9530F7-66DE-4ACF-A109-9E78E83D92E9}" type="pres">
      <dgm:prSet presAssocID="{60F6C628-92AD-49E3-92F0-F69B1D47526C}" presName="spaceRect" presStyleCnt="0"/>
      <dgm:spPr/>
    </dgm:pt>
    <dgm:pt modelId="{F0E64077-E94B-4AEA-B24E-8CFAA7DE06F3}" type="pres">
      <dgm:prSet presAssocID="{60F6C628-92AD-49E3-92F0-F69B1D47526C}" presName="parTx" presStyleLbl="revTx" presStyleIdx="0" presStyleCnt="2">
        <dgm:presLayoutVars>
          <dgm:chMax val="0"/>
          <dgm:chPref val="0"/>
        </dgm:presLayoutVars>
      </dgm:prSet>
      <dgm:spPr/>
    </dgm:pt>
    <dgm:pt modelId="{72036C2B-7A75-4864-B687-F77D6BC101F3}" type="pres">
      <dgm:prSet presAssocID="{30C5EB76-81E2-49B8-959F-C499D8961D95}" presName="sibTrans" presStyleCnt="0"/>
      <dgm:spPr/>
    </dgm:pt>
    <dgm:pt modelId="{E7F32B43-583A-49AB-AB18-24D407588DFD}" type="pres">
      <dgm:prSet presAssocID="{87CE91FB-4DA1-4E2F-8B35-506FB1F7F143}" presName="compNode" presStyleCnt="0"/>
      <dgm:spPr/>
    </dgm:pt>
    <dgm:pt modelId="{6DA73FD1-9472-40CE-A55B-ADB2665A5F4E}" type="pres">
      <dgm:prSet presAssocID="{87CE91FB-4DA1-4E2F-8B35-506FB1F7F143}" presName="bgRect" presStyleLbl="bgShp" presStyleIdx="1" presStyleCnt="2"/>
      <dgm:spPr/>
    </dgm:pt>
    <dgm:pt modelId="{6441E8FD-275E-438E-84A8-7C4D9F4A4333}" type="pres">
      <dgm:prSet presAssocID="{87CE91FB-4DA1-4E2F-8B35-506FB1F7F1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5942E6D-5A3D-45AA-B642-BE06757B6758}" type="pres">
      <dgm:prSet presAssocID="{87CE91FB-4DA1-4E2F-8B35-506FB1F7F143}" presName="spaceRect" presStyleCnt="0"/>
      <dgm:spPr/>
    </dgm:pt>
    <dgm:pt modelId="{5509744E-D607-4110-923C-7E6B2CE4CE27}" type="pres">
      <dgm:prSet presAssocID="{87CE91FB-4DA1-4E2F-8B35-506FB1F7F14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180A80C-AA88-4AA6-98E2-D8745674DEA5}" type="presOf" srcId="{87CE91FB-4DA1-4E2F-8B35-506FB1F7F143}" destId="{5509744E-D607-4110-923C-7E6B2CE4CE27}" srcOrd="0" destOrd="0" presId="urn:microsoft.com/office/officeart/2018/2/layout/IconVerticalSolidList"/>
    <dgm:cxn modelId="{58985B1F-5EA0-415D-9F50-5DAB19ED5AF4}" srcId="{348CC8FB-F8DB-417C-9EB5-44852EADB467}" destId="{60F6C628-92AD-49E3-92F0-F69B1D47526C}" srcOrd="0" destOrd="0" parTransId="{C9086FDC-85C2-44BC-BD24-E9EAF4C2F83D}" sibTransId="{30C5EB76-81E2-49B8-959F-C499D8961D95}"/>
    <dgm:cxn modelId="{46DE0E46-7984-4197-A9E0-3EEEDCD5C6B9}" type="presOf" srcId="{348CC8FB-F8DB-417C-9EB5-44852EADB467}" destId="{9FECBE49-EDD8-4A1B-8B8C-29573B2A926F}" srcOrd="0" destOrd="0" presId="urn:microsoft.com/office/officeart/2018/2/layout/IconVerticalSolidList"/>
    <dgm:cxn modelId="{C875AF55-E056-4549-9F61-89FCA8E6A018}" srcId="{348CC8FB-F8DB-417C-9EB5-44852EADB467}" destId="{87CE91FB-4DA1-4E2F-8B35-506FB1F7F143}" srcOrd="1" destOrd="0" parTransId="{57163310-7627-49BD-B8D9-DAB0B757D1D9}" sibTransId="{15C70A96-0176-43C8-87EE-93B01D2B5A43}"/>
    <dgm:cxn modelId="{BB1100C7-6586-4CB1-A7CA-605D56F1AE08}" type="presOf" srcId="{60F6C628-92AD-49E3-92F0-F69B1D47526C}" destId="{F0E64077-E94B-4AEA-B24E-8CFAA7DE06F3}" srcOrd="0" destOrd="0" presId="urn:microsoft.com/office/officeart/2018/2/layout/IconVerticalSolidList"/>
    <dgm:cxn modelId="{BB1D2621-7F9D-485E-80CF-059429B9B0FE}" type="presParOf" srcId="{9FECBE49-EDD8-4A1B-8B8C-29573B2A926F}" destId="{E4AA496B-5C68-47A0-B002-8083817F0B5D}" srcOrd="0" destOrd="0" presId="urn:microsoft.com/office/officeart/2018/2/layout/IconVerticalSolidList"/>
    <dgm:cxn modelId="{D58083C0-271E-4596-9473-B5DC4C0877F4}" type="presParOf" srcId="{E4AA496B-5C68-47A0-B002-8083817F0B5D}" destId="{A9EF8858-BAFC-427A-B8B1-0D4ACA366F96}" srcOrd="0" destOrd="0" presId="urn:microsoft.com/office/officeart/2018/2/layout/IconVerticalSolidList"/>
    <dgm:cxn modelId="{EBBB6E24-07A5-42F7-8D5F-06B870F1177C}" type="presParOf" srcId="{E4AA496B-5C68-47A0-B002-8083817F0B5D}" destId="{ED4C8DCF-3BFB-4E67-BF40-337B9B8EA320}" srcOrd="1" destOrd="0" presId="urn:microsoft.com/office/officeart/2018/2/layout/IconVerticalSolidList"/>
    <dgm:cxn modelId="{3A17B3C6-CF10-4614-92DE-AB18AC302400}" type="presParOf" srcId="{E4AA496B-5C68-47A0-B002-8083817F0B5D}" destId="{1C9530F7-66DE-4ACF-A109-9E78E83D92E9}" srcOrd="2" destOrd="0" presId="urn:microsoft.com/office/officeart/2018/2/layout/IconVerticalSolidList"/>
    <dgm:cxn modelId="{228F3EF9-0F7E-4F00-A1B0-1C7E84DAB135}" type="presParOf" srcId="{E4AA496B-5C68-47A0-B002-8083817F0B5D}" destId="{F0E64077-E94B-4AEA-B24E-8CFAA7DE06F3}" srcOrd="3" destOrd="0" presId="urn:microsoft.com/office/officeart/2018/2/layout/IconVerticalSolidList"/>
    <dgm:cxn modelId="{8EF41371-A225-4E8D-9DFA-13C56FCC93AE}" type="presParOf" srcId="{9FECBE49-EDD8-4A1B-8B8C-29573B2A926F}" destId="{72036C2B-7A75-4864-B687-F77D6BC101F3}" srcOrd="1" destOrd="0" presId="urn:microsoft.com/office/officeart/2018/2/layout/IconVerticalSolidList"/>
    <dgm:cxn modelId="{1FC16A67-F1DB-46C6-96F7-4371DEBEED1D}" type="presParOf" srcId="{9FECBE49-EDD8-4A1B-8B8C-29573B2A926F}" destId="{E7F32B43-583A-49AB-AB18-24D407588DFD}" srcOrd="2" destOrd="0" presId="urn:microsoft.com/office/officeart/2018/2/layout/IconVerticalSolidList"/>
    <dgm:cxn modelId="{A1C403FA-B06F-4A35-B67E-4DEC58E3DB3C}" type="presParOf" srcId="{E7F32B43-583A-49AB-AB18-24D407588DFD}" destId="{6DA73FD1-9472-40CE-A55B-ADB2665A5F4E}" srcOrd="0" destOrd="0" presId="urn:microsoft.com/office/officeart/2018/2/layout/IconVerticalSolidList"/>
    <dgm:cxn modelId="{30192CD8-A6D9-462C-A91E-73E67B90CE97}" type="presParOf" srcId="{E7F32B43-583A-49AB-AB18-24D407588DFD}" destId="{6441E8FD-275E-438E-84A8-7C4D9F4A4333}" srcOrd="1" destOrd="0" presId="urn:microsoft.com/office/officeart/2018/2/layout/IconVerticalSolidList"/>
    <dgm:cxn modelId="{0B912FF6-023F-43B9-8F81-FAB592BF8040}" type="presParOf" srcId="{E7F32B43-583A-49AB-AB18-24D407588DFD}" destId="{35942E6D-5A3D-45AA-B642-BE06757B6758}" srcOrd="2" destOrd="0" presId="urn:microsoft.com/office/officeart/2018/2/layout/IconVerticalSolidList"/>
    <dgm:cxn modelId="{20BC349D-2DC8-4A02-897A-C8029DE1B7F7}" type="presParOf" srcId="{E7F32B43-583A-49AB-AB18-24D407588DFD}" destId="{5509744E-D607-4110-923C-7E6B2CE4CE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AF02D2-B78C-4413-941A-FC426DFFF39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E8F04A8-F6A2-4788-8D98-F98250693872}">
      <dgm:prSet/>
      <dgm:spPr/>
      <dgm:t>
        <a:bodyPr/>
        <a:lstStyle/>
        <a:p>
          <a:r>
            <a:rPr lang="en-US" dirty="0"/>
            <a:t>Modern cloud systems run continuously, so any downtime can affect revenue and customer trust. </a:t>
          </a:r>
        </a:p>
      </dgm:t>
    </dgm:pt>
    <dgm:pt modelId="{59CC37AF-82D9-4E82-A021-3E615527CE54}" type="parTrans" cxnId="{57CD7AD9-C479-4F21-8D2C-2A89ABBCD131}">
      <dgm:prSet/>
      <dgm:spPr/>
      <dgm:t>
        <a:bodyPr/>
        <a:lstStyle/>
        <a:p>
          <a:endParaRPr lang="en-US"/>
        </a:p>
      </dgm:t>
    </dgm:pt>
    <dgm:pt modelId="{8047C8BB-9516-43B5-BA9D-7023959572CD}" type="sibTrans" cxnId="{57CD7AD9-C479-4F21-8D2C-2A89ABBCD131}">
      <dgm:prSet/>
      <dgm:spPr/>
      <dgm:t>
        <a:bodyPr/>
        <a:lstStyle/>
        <a:p>
          <a:endParaRPr lang="en-US"/>
        </a:p>
      </dgm:t>
    </dgm:pt>
    <dgm:pt modelId="{8020C7C4-26D7-42DA-9AB3-550C97891AD9}">
      <dgm:prSet/>
      <dgm:spPr/>
      <dgm:t>
        <a:bodyPr/>
        <a:lstStyle/>
        <a:p>
          <a:r>
            <a:rPr lang="en-US"/>
            <a:t>Pager rotations help teams respond quickly to incidents, reduce outages, and improve overall reliability.</a:t>
          </a:r>
        </a:p>
      </dgm:t>
    </dgm:pt>
    <dgm:pt modelId="{1802089B-DCD3-4DA8-846E-7E67150ED837}" type="parTrans" cxnId="{1623C3A3-F3C8-4A74-B240-12DF87C99041}">
      <dgm:prSet/>
      <dgm:spPr/>
      <dgm:t>
        <a:bodyPr/>
        <a:lstStyle/>
        <a:p>
          <a:endParaRPr lang="en-US"/>
        </a:p>
      </dgm:t>
    </dgm:pt>
    <dgm:pt modelId="{B25A7310-FB1B-4CEE-870D-C6068C915EE3}" type="sibTrans" cxnId="{1623C3A3-F3C8-4A74-B240-12DF87C99041}">
      <dgm:prSet/>
      <dgm:spPr/>
      <dgm:t>
        <a:bodyPr/>
        <a:lstStyle/>
        <a:p>
          <a:endParaRPr lang="en-US"/>
        </a:p>
      </dgm:t>
    </dgm:pt>
    <dgm:pt modelId="{0AA84210-498E-4EAA-BEED-4097E1EF39A4}" type="pres">
      <dgm:prSet presAssocID="{32AF02D2-B78C-4413-941A-FC426DFFF39F}" presName="linear" presStyleCnt="0">
        <dgm:presLayoutVars>
          <dgm:animLvl val="lvl"/>
          <dgm:resizeHandles val="exact"/>
        </dgm:presLayoutVars>
      </dgm:prSet>
      <dgm:spPr/>
    </dgm:pt>
    <dgm:pt modelId="{C6AE19DC-D58A-45FF-95FB-0F5244FF5B36}" type="pres">
      <dgm:prSet presAssocID="{6E8F04A8-F6A2-4788-8D98-F9825069387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1AAA8C2-C699-4B3A-B0BE-AC09AF1B64F1}" type="pres">
      <dgm:prSet presAssocID="{8047C8BB-9516-43B5-BA9D-7023959572CD}" presName="spacer" presStyleCnt="0"/>
      <dgm:spPr/>
    </dgm:pt>
    <dgm:pt modelId="{1B129C4A-57E8-4CB8-9A70-A0180FD922F9}" type="pres">
      <dgm:prSet presAssocID="{8020C7C4-26D7-42DA-9AB3-550C97891AD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97ACE9E-5249-4F21-9F6A-56E63446C029}" type="presOf" srcId="{8020C7C4-26D7-42DA-9AB3-550C97891AD9}" destId="{1B129C4A-57E8-4CB8-9A70-A0180FD922F9}" srcOrd="0" destOrd="0" presId="urn:microsoft.com/office/officeart/2005/8/layout/vList2"/>
    <dgm:cxn modelId="{1623C3A3-F3C8-4A74-B240-12DF87C99041}" srcId="{32AF02D2-B78C-4413-941A-FC426DFFF39F}" destId="{8020C7C4-26D7-42DA-9AB3-550C97891AD9}" srcOrd="1" destOrd="0" parTransId="{1802089B-DCD3-4DA8-846E-7E67150ED837}" sibTransId="{B25A7310-FB1B-4CEE-870D-C6068C915EE3}"/>
    <dgm:cxn modelId="{6B4075A7-AD43-4881-BF4C-25157043D84E}" type="presOf" srcId="{6E8F04A8-F6A2-4788-8D98-F98250693872}" destId="{C6AE19DC-D58A-45FF-95FB-0F5244FF5B36}" srcOrd="0" destOrd="0" presId="urn:microsoft.com/office/officeart/2005/8/layout/vList2"/>
    <dgm:cxn modelId="{57CD7AD9-C479-4F21-8D2C-2A89ABBCD131}" srcId="{32AF02D2-B78C-4413-941A-FC426DFFF39F}" destId="{6E8F04A8-F6A2-4788-8D98-F98250693872}" srcOrd="0" destOrd="0" parTransId="{59CC37AF-82D9-4E82-A021-3E615527CE54}" sibTransId="{8047C8BB-9516-43B5-BA9D-7023959572CD}"/>
    <dgm:cxn modelId="{AAF562F3-87FE-4DB6-95DA-33B635491608}" type="presOf" srcId="{32AF02D2-B78C-4413-941A-FC426DFFF39F}" destId="{0AA84210-498E-4EAA-BEED-4097E1EF39A4}" srcOrd="0" destOrd="0" presId="urn:microsoft.com/office/officeart/2005/8/layout/vList2"/>
    <dgm:cxn modelId="{BAB8549A-EBCF-43EA-A5E2-583CF6C21D42}" type="presParOf" srcId="{0AA84210-498E-4EAA-BEED-4097E1EF39A4}" destId="{C6AE19DC-D58A-45FF-95FB-0F5244FF5B36}" srcOrd="0" destOrd="0" presId="urn:microsoft.com/office/officeart/2005/8/layout/vList2"/>
    <dgm:cxn modelId="{8965E3AE-46C1-49A2-813B-C5FE834CFEDB}" type="presParOf" srcId="{0AA84210-498E-4EAA-BEED-4097E1EF39A4}" destId="{31AAA8C2-C699-4B3A-B0BE-AC09AF1B64F1}" srcOrd="1" destOrd="0" presId="urn:microsoft.com/office/officeart/2005/8/layout/vList2"/>
    <dgm:cxn modelId="{47AAFF18-FBF6-4BB9-8BE7-2F7DFAC16E76}" type="presParOf" srcId="{0AA84210-498E-4EAA-BEED-4097E1EF39A4}" destId="{1B129C4A-57E8-4CB8-9A70-A0180FD922F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F8858-BAFC-427A-B8B1-0D4ACA366F96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C8DCF-3BFB-4E67-BF40-337B9B8EA320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64077-E94B-4AEA-B24E-8CFAA7DE06F3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Pager rotation is an on‑call schedule where team members take turns responding to alerts and incidents. </a:t>
          </a:r>
        </a:p>
      </dsp:txBody>
      <dsp:txXfrm>
        <a:off x="1568246" y="735468"/>
        <a:ext cx="6661353" cy="1357788"/>
      </dsp:txXfrm>
    </dsp:sp>
    <dsp:sp modelId="{6DA73FD1-9472-40CE-A55B-ADB2665A5F4E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1E8FD-275E-438E-84A8-7C4D9F4A4333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9744E-D607-4110-923C-7E6B2CE4CE27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ensures that someone is always available to handle system issues and maintain 24/7 service availability.</a:t>
          </a:r>
        </a:p>
      </dsp:txBody>
      <dsp:txXfrm>
        <a:off x="1568246" y="2432705"/>
        <a:ext cx="6661353" cy="13577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E19DC-D58A-45FF-95FB-0F5244FF5B36}">
      <dsp:nvSpPr>
        <dsp:cNvPr id="0" name=""/>
        <dsp:cNvSpPr/>
      </dsp:nvSpPr>
      <dsp:spPr>
        <a:xfrm>
          <a:off x="0" y="510960"/>
          <a:ext cx="5175384" cy="22124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Modern cloud systems run continuously, so any downtime can affect revenue and customer trust. </a:t>
          </a:r>
        </a:p>
      </dsp:txBody>
      <dsp:txXfrm>
        <a:off x="108004" y="618964"/>
        <a:ext cx="4959376" cy="1996462"/>
      </dsp:txXfrm>
    </dsp:sp>
    <dsp:sp modelId="{1B129C4A-57E8-4CB8-9A70-A0180FD922F9}">
      <dsp:nvSpPr>
        <dsp:cNvPr id="0" name=""/>
        <dsp:cNvSpPr/>
      </dsp:nvSpPr>
      <dsp:spPr>
        <a:xfrm>
          <a:off x="0" y="2812710"/>
          <a:ext cx="5175384" cy="221247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Pager rotations help teams respond quickly to incidents, reduce outages, and improve overall reliability.</a:t>
          </a:r>
        </a:p>
      </dsp:txBody>
      <dsp:txXfrm>
        <a:off x="108004" y="2920714"/>
        <a:ext cx="4959376" cy="1996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BE8E2-A6FE-4292-0FF4-2C50BE6DC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Pager Rotation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7C02E-D166-E7AF-9587-C737E1910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Created By Cannon Rivera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3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What Is Pager Rotation?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A198DF-3E22-6FEB-E4FC-3A07AFAA0A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/>
              <a:t>Why Have Page Rotations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8EC6E-6FDE-482E-8735-EACD517500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24199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000000"/>
                </a:solidFill>
              </a:rPr>
              <a:t>DevOps Implementation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EC57025B-3B35-3E3C-BF99-D484B117A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In the DevOps model, developers and operations teams share responsibility for the systems they build. </a:t>
            </a:r>
          </a:p>
          <a:p>
            <a:r>
              <a:rPr lang="en-US" sz="1500" dirty="0">
                <a:solidFill>
                  <a:srgbClr val="000000"/>
                </a:solidFill>
              </a:rPr>
              <a:t>Using Pager Rotation encourages teams to support each other, allowing for faster response time, troubleshooting and resolving of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Makes a Good Rotation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An effective on‑call rotation includes a fair schedule, a primary and backup responder, clear escalation policies, and proper time‑zone coverage to ensure continuous support and no burnout.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Scheduling Strategies</a:t>
            </a:r>
          </a:p>
        </p:txBody>
      </p:sp>
      <p:pic>
        <p:nvPicPr>
          <p:cNvPr id="14" name="Picture 13" descr="Sticky notes on a wall">
            <a:extLst>
              <a:ext uri="{FF2B5EF4-FFF2-40B4-BE49-F238E27FC236}">
                <a16:creationId xmlns:a16="http://schemas.microsoft.com/office/drawing/2014/main" id="{DB1B3499-0BD4-DBD8-3978-7EB38F7B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06" r="32369" b="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Common scheduling strategies are like weekly rotations(On-call for a week then switch), or round‑robin schedules(Volunteer until everyone goes). </a:t>
            </a:r>
          </a:p>
          <a:p>
            <a:r>
              <a:rPr lang="en-US" sz="1900"/>
              <a:t>These approaches help distribute responsibility fairly and reduce overnight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dirty="0"/>
              <a:t>Best Practices</a:t>
            </a:r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/>
              <a:t>Successful on‑call programs have clear shift handoffs, post‑incident reviews, updated runbooks, and properly tuned alerts to reduce unnecessary 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Tools for Pager Rotations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r>
              <a:rPr lang="en-US" sz="3000"/>
              <a:t>Tools such as PagerDuty, Prometheus with </a:t>
            </a:r>
            <a:r>
              <a:rPr lang="en-US" sz="3000" err="1"/>
              <a:t>Alertmanager</a:t>
            </a:r>
            <a:r>
              <a:rPr lang="en-US" sz="3000"/>
              <a:t>, Datadog, and </a:t>
            </a:r>
            <a:r>
              <a:rPr lang="en-US" sz="3000" err="1"/>
              <a:t>Squadcast</a:t>
            </a:r>
            <a:r>
              <a:rPr lang="en-US" sz="3000"/>
              <a:t> help automate schedules, route alerts, and manage escalations more efficiently.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Pager rotations support reliable systems, encourage shared ownership in DevOps, prevent burnout through fair scheduling, and improve response times through automation and clear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AEAA2-563D-CE72-837F-D0032C99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Citations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64E931-E0E9-1E40-CD20-E8B16B51B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7614" y="1526033"/>
            <a:ext cx="4152298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Google. </a:t>
            </a: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Site Reliability Engineering: How Google Runs Production Systems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Edited by Betsy Beyer et al., O’Reilly Media, 2016.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PagerDuty. “On-Call Rotations and Schedules.” </a:t>
            </a: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PagerDuty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www.pagerduty.com/resources/incident-management-response/learn/call-rotations-schedules/. Accessed 8 Feb. 2026.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Atlassian. “Incident Management Handbook.” </a:t>
            </a: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Atlassian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www.atlassian.com/incident-management. Accessed 8 Feb. 2026.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Microsoft. “Monitoring and Telemetry for Cloud Applications.” </a:t>
            </a: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Microsoft Learn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learn.microsoft.com/en-us/azure/architecture/best-practices/monitoring. Accessed 8 Feb. 2026.</a:t>
            </a:r>
          </a:p>
        </p:txBody>
      </p:sp>
    </p:spTree>
    <p:extLst>
      <p:ext uri="{BB962C8B-B14F-4D97-AF65-F5344CB8AC3E}">
        <p14:creationId xmlns:p14="http://schemas.microsoft.com/office/powerpoint/2010/main" val="2738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405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Pager Rotation</vt:lpstr>
      <vt:lpstr>What Is Pager Rotation?</vt:lpstr>
      <vt:lpstr>Why Have Page Rotations</vt:lpstr>
      <vt:lpstr>DevOps Implementation</vt:lpstr>
      <vt:lpstr>What Makes a Good Rotation</vt:lpstr>
      <vt:lpstr>Scheduling Strategies</vt:lpstr>
      <vt:lpstr>Best Practices</vt:lpstr>
      <vt:lpstr>Tools for Pager Rotations</vt:lpstr>
      <vt:lpstr>Conclusion</vt:lpstr>
      <vt:lpstr>Citations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Cannon Rivera</cp:lastModifiedBy>
  <cp:revision>2</cp:revision>
  <dcterms:created xsi:type="dcterms:W3CDTF">2013-01-27T09:14:16Z</dcterms:created>
  <dcterms:modified xsi:type="dcterms:W3CDTF">2026-02-08T22:24:48Z</dcterms:modified>
  <cp:category/>
</cp:coreProperties>
</file>