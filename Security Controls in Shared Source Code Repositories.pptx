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5"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6" d="100"/>
          <a:sy n="76" d="100"/>
        </p:scale>
        <p:origin x="62"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B9B91-2C12-034F-EBB9-1C711F0B00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04A1F0-4EDD-946C-350B-BF76AB0539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DA9DB1-E15F-7D6F-95E8-53FC03CDB053}"/>
              </a:ext>
            </a:extLst>
          </p:cNvPr>
          <p:cNvSpPr>
            <a:spLocks noGrp="1"/>
          </p:cNvSpPr>
          <p:nvPr>
            <p:ph type="dt" sz="half" idx="10"/>
          </p:nvPr>
        </p:nvSpPr>
        <p:spPr/>
        <p:txBody>
          <a:bodyPr/>
          <a:lstStyle/>
          <a:p>
            <a:fld id="{1BF41C19-B131-4F15-B3CF-AE56813DF9FA}" type="datetimeFigureOut">
              <a:rPr lang="en-US" smtClean="0"/>
              <a:t>2/26/2026</a:t>
            </a:fld>
            <a:endParaRPr lang="en-US"/>
          </a:p>
        </p:txBody>
      </p:sp>
      <p:sp>
        <p:nvSpPr>
          <p:cNvPr id="5" name="Footer Placeholder 4">
            <a:extLst>
              <a:ext uri="{FF2B5EF4-FFF2-40B4-BE49-F238E27FC236}">
                <a16:creationId xmlns:a16="http://schemas.microsoft.com/office/drawing/2014/main" id="{6528C771-4CC8-B791-9D4C-20FADE27BE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57D025-B80B-180B-A406-253BDB2493EA}"/>
              </a:ext>
            </a:extLst>
          </p:cNvPr>
          <p:cNvSpPr>
            <a:spLocks noGrp="1"/>
          </p:cNvSpPr>
          <p:nvPr>
            <p:ph type="sldNum" sz="quarter" idx="12"/>
          </p:nvPr>
        </p:nvSpPr>
        <p:spPr/>
        <p:txBody>
          <a:bodyPr/>
          <a:lstStyle/>
          <a:p>
            <a:fld id="{133532AD-F9FA-4CC0-A23D-D2EA15A713DB}" type="slidenum">
              <a:rPr lang="en-US" smtClean="0"/>
              <a:t>‹#›</a:t>
            </a:fld>
            <a:endParaRPr lang="en-US"/>
          </a:p>
        </p:txBody>
      </p:sp>
    </p:spTree>
    <p:extLst>
      <p:ext uri="{BB962C8B-B14F-4D97-AF65-F5344CB8AC3E}">
        <p14:creationId xmlns:p14="http://schemas.microsoft.com/office/powerpoint/2010/main" val="995048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CEA84-3FD3-9080-6C25-0CA4D5EA95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AA7E54-9BDC-369F-CAC7-5848DBD130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F0773D-27B9-D699-772C-21086081430E}"/>
              </a:ext>
            </a:extLst>
          </p:cNvPr>
          <p:cNvSpPr>
            <a:spLocks noGrp="1"/>
          </p:cNvSpPr>
          <p:nvPr>
            <p:ph type="dt" sz="half" idx="10"/>
          </p:nvPr>
        </p:nvSpPr>
        <p:spPr/>
        <p:txBody>
          <a:bodyPr/>
          <a:lstStyle/>
          <a:p>
            <a:fld id="{1BF41C19-B131-4F15-B3CF-AE56813DF9FA}" type="datetimeFigureOut">
              <a:rPr lang="en-US" smtClean="0"/>
              <a:t>2/26/2026</a:t>
            </a:fld>
            <a:endParaRPr lang="en-US"/>
          </a:p>
        </p:txBody>
      </p:sp>
      <p:sp>
        <p:nvSpPr>
          <p:cNvPr id="5" name="Footer Placeholder 4">
            <a:extLst>
              <a:ext uri="{FF2B5EF4-FFF2-40B4-BE49-F238E27FC236}">
                <a16:creationId xmlns:a16="http://schemas.microsoft.com/office/drawing/2014/main" id="{86C2D6DC-08F2-F579-BC38-4B58CD65D8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D3D792-027B-54F8-6A99-8E7D53D9BD6D}"/>
              </a:ext>
            </a:extLst>
          </p:cNvPr>
          <p:cNvSpPr>
            <a:spLocks noGrp="1"/>
          </p:cNvSpPr>
          <p:nvPr>
            <p:ph type="sldNum" sz="quarter" idx="12"/>
          </p:nvPr>
        </p:nvSpPr>
        <p:spPr/>
        <p:txBody>
          <a:bodyPr/>
          <a:lstStyle/>
          <a:p>
            <a:fld id="{133532AD-F9FA-4CC0-A23D-D2EA15A713DB}" type="slidenum">
              <a:rPr lang="en-US" smtClean="0"/>
              <a:t>‹#›</a:t>
            </a:fld>
            <a:endParaRPr lang="en-US"/>
          </a:p>
        </p:txBody>
      </p:sp>
    </p:spTree>
    <p:extLst>
      <p:ext uri="{BB962C8B-B14F-4D97-AF65-F5344CB8AC3E}">
        <p14:creationId xmlns:p14="http://schemas.microsoft.com/office/powerpoint/2010/main" val="4221342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8864F-0F77-A05E-A9E2-06A7FDCC33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F1AAA7-3566-6347-1A8A-DC81C518A3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CD518E-4FE9-C639-72E9-92363C983B2E}"/>
              </a:ext>
            </a:extLst>
          </p:cNvPr>
          <p:cNvSpPr>
            <a:spLocks noGrp="1"/>
          </p:cNvSpPr>
          <p:nvPr>
            <p:ph type="dt" sz="half" idx="10"/>
          </p:nvPr>
        </p:nvSpPr>
        <p:spPr/>
        <p:txBody>
          <a:bodyPr/>
          <a:lstStyle/>
          <a:p>
            <a:fld id="{1BF41C19-B131-4F15-B3CF-AE56813DF9FA}" type="datetimeFigureOut">
              <a:rPr lang="en-US" smtClean="0"/>
              <a:t>2/26/2026</a:t>
            </a:fld>
            <a:endParaRPr lang="en-US"/>
          </a:p>
        </p:txBody>
      </p:sp>
      <p:sp>
        <p:nvSpPr>
          <p:cNvPr id="5" name="Footer Placeholder 4">
            <a:extLst>
              <a:ext uri="{FF2B5EF4-FFF2-40B4-BE49-F238E27FC236}">
                <a16:creationId xmlns:a16="http://schemas.microsoft.com/office/drawing/2014/main" id="{BBD7C4E2-6DC9-EC5B-1D0C-2C83F1E7A1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3231C2-2E91-0F60-8BD0-2DE3143A1896}"/>
              </a:ext>
            </a:extLst>
          </p:cNvPr>
          <p:cNvSpPr>
            <a:spLocks noGrp="1"/>
          </p:cNvSpPr>
          <p:nvPr>
            <p:ph type="sldNum" sz="quarter" idx="12"/>
          </p:nvPr>
        </p:nvSpPr>
        <p:spPr/>
        <p:txBody>
          <a:bodyPr/>
          <a:lstStyle/>
          <a:p>
            <a:fld id="{133532AD-F9FA-4CC0-A23D-D2EA15A713DB}" type="slidenum">
              <a:rPr lang="en-US" smtClean="0"/>
              <a:t>‹#›</a:t>
            </a:fld>
            <a:endParaRPr lang="en-US"/>
          </a:p>
        </p:txBody>
      </p:sp>
    </p:spTree>
    <p:extLst>
      <p:ext uri="{BB962C8B-B14F-4D97-AF65-F5344CB8AC3E}">
        <p14:creationId xmlns:p14="http://schemas.microsoft.com/office/powerpoint/2010/main" val="4280157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6530A-6F25-CD5D-DE7C-D3737A1BEC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CDF61B-2728-56A8-25A9-4FEC7C2027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966459-F344-8C32-2A24-F87D31EEDC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5558F2-D878-DAF3-24AC-D1A75576C46C}"/>
              </a:ext>
            </a:extLst>
          </p:cNvPr>
          <p:cNvSpPr>
            <a:spLocks noGrp="1"/>
          </p:cNvSpPr>
          <p:nvPr>
            <p:ph type="dt" sz="half" idx="10"/>
          </p:nvPr>
        </p:nvSpPr>
        <p:spPr/>
        <p:txBody>
          <a:bodyPr/>
          <a:lstStyle/>
          <a:p>
            <a:fld id="{1BF41C19-B131-4F15-B3CF-AE56813DF9FA}" type="datetimeFigureOut">
              <a:rPr lang="en-US" smtClean="0"/>
              <a:t>2/26/2026</a:t>
            </a:fld>
            <a:endParaRPr lang="en-US"/>
          </a:p>
        </p:txBody>
      </p:sp>
      <p:sp>
        <p:nvSpPr>
          <p:cNvPr id="6" name="Footer Placeholder 5">
            <a:extLst>
              <a:ext uri="{FF2B5EF4-FFF2-40B4-BE49-F238E27FC236}">
                <a16:creationId xmlns:a16="http://schemas.microsoft.com/office/drawing/2014/main" id="{756AFB6C-676D-4F8D-3B10-281C2816FB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E988BA-F620-8566-1E1F-E284B678BE6B}"/>
              </a:ext>
            </a:extLst>
          </p:cNvPr>
          <p:cNvSpPr>
            <a:spLocks noGrp="1"/>
          </p:cNvSpPr>
          <p:nvPr>
            <p:ph type="sldNum" sz="quarter" idx="12"/>
          </p:nvPr>
        </p:nvSpPr>
        <p:spPr/>
        <p:txBody>
          <a:bodyPr/>
          <a:lstStyle/>
          <a:p>
            <a:fld id="{133532AD-F9FA-4CC0-A23D-D2EA15A713DB}" type="slidenum">
              <a:rPr lang="en-US" smtClean="0"/>
              <a:t>‹#›</a:t>
            </a:fld>
            <a:endParaRPr lang="en-US"/>
          </a:p>
        </p:txBody>
      </p:sp>
    </p:spTree>
    <p:extLst>
      <p:ext uri="{BB962C8B-B14F-4D97-AF65-F5344CB8AC3E}">
        <p14:creationId xmlns:p14="http://schemas.microsoft.com/office/powerpoint/2010/main" val="180668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89874-A00D-AB97-FE93-04A9445B85C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F20C9F-20B7-C3C1-5FCC-764D2A0190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2D28C8-9B09-C54D-D17B-F67E3A35DA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6B3B68-2111-9960-9601-92D401F25A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1748C4-8A37-6642-ECE6-9524E74461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1CFEBD-59A9-7A07-8B25-D219CD2DDFC2}"/>
              </a:ext>
            </a:extLst>
          </p:cNvPr>
          <p:cNvSpPr>
            <a:spLocks noGrp="1"/>
          </p:cNvSpPr>
          <p:nvPr>
            <p:ph type="dt" sz="half" idx="10"/>
          </p:nvPr>
        </p:nvSpPr>
        <p:spPr/>
        <p:txBody>
          <a:bodyPr/>
          <a:lstStyle/>
          <a:p>
            <a:fld id="{1BF41C19-B131-4F15-B3CF-AE56813DF9FA}" type="datetimeFigureOut">
              <a:rPr lang="en-US" smtClean="0"/>
              <a:t>2/26/2026</a:t>
            </a:fld>
            <a:endParaRPr lang="en-US"/>
          </a:p>
        </p:txBody>
      </p:sp>
      <p:sp>
        <p:nvSpPr>
          <p:cNvPr id="8" name="Footer Placeholder 7">
            <a:extLst>
              <a:ext uri="{FF2B5EF4-FFF2-40B4-BE49-F238E27FC236}">
                <a16:creationId xmlns:a16="http://schemas.microsoft.com/office/drawing/2014/main" id="{8D0405E3-8B17-FCE7-8C99-224215AB68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7F536E4-D8CA-8B96-D1CA-B63763A09C36}"/>
              </a:ext>
            </a:extLst>
          </p:cNvPr>
          <p:cNvSpPr>
            <a:spLocks noGrp="1"/>
          </p:cNvSpPr>
          <p:nvPr>
            <p:ph type="sldNum" sz="quarter" idx="12"/>
          </p:nvPr>
        </p:nvSpPr>
        <p:spPr/>
        <p:txBody>
          <a:bodyPr/>
          <a:lstStyle/>
          <a:p>
            <a:fld id="{133532AD-F9FA-4CC0-A23D-D2EA15A713DB}" type="slidenum">
              <a:rPr lang="en-US" smtClean="0"/>
              <a:t>‹#›</a:t>
            </a:fld>
            <a:endParaRPr lang="en-US"/>
          </a:p>
        </p:txBody>
      </p:sp>
    </p:spTree>
    <p:extLst>
      <p:ext uri="{BB962C8B-B14F-4D97-AF65-F5344CB8AC3E}">
        <p14:creationId xmlns:p14="http://schemas.microsoft.com/office/powerpoint/2010/main" val="2858285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E3D05-787B-EE43-9807-832DB10467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8631B7-7694-B665-6EC2-C9782E6C9557}"/>
              </a:ext>
            </a:extLst>
          </p:cNvPr>
          <p:cNvSpPr>
            <a:spLocks noGrp="1"/>
          </p:cNvSpPr>
          <p:nvPr>
            <p:ph type="dt" sz="half" idx="10"/>
          </p:nvPr>
        </p:nvSpPr>
        <p:spPr/>
        <p:txBody>
          <a:bodyPr/>
          <a:lstStyle/>
          <a:p>
            <a:fld id="{1BF41C19-B131-4F15-B3CF-AE56813DF9FA}" type="datetimeFigureOut">
              <a:rPr lang="en-US" smtClean="0"/>
              <a:t>2/26/2026</a:t>
            </a:fld>
            <a:endParaRPr lang="en-US"/>
          </a:p>
        </p:txBody>
      </p:sp>
      <p:sp>
        <p:nvSpPr>
          <p:cNvPr id="4" name="Footer Placeholder 3">
            <a:extLst>
              <a:ext uri="{FF2B5EF4-FFF2-40B4-BE49-F238E27FC236}">
                <a16:creationId xmlns:a16="http://schemas.microsoft.com/office/drawing/2014/main" id="{6729DDB3-7858-5986-68DE-C04F7EAD82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088707-D15A-4B55-7830-832C8BE85736}"/>
              </a:ext>
            </a:extLst>
          </p:cNvPr>
          <p:cNvSpPr>
            <a:spLocks noGrp="1"/>
          </p:cNvSpPr>
          <p:nvPr>
            <p:ph type="sldNum" sz="quarter" idx="12"/>
          </p:nvPr>
        </p:nvSpPr>
        <p:spPr/>
        <p:txBody>
          <a:bodyPr/>
          <a:lstStyle/>
          <a:p>
            <a:fld id="{133532AD-F9FA-4CC0-A23D-D2EA15A713DB}" type="slidenum">
              <a:rPr lang="en-US" smtClean="0"/>
              <a:t>‹#›</a:t>
            </a:fld>
            <a:endParaRPr lang="en-US"/>
          </a:p>
        </p:txBody>
      </p:sp>
    </p:spTree>
    <p:extLst>
      <p:ext uri="{BB962C8B-B14F-4D97-AF65-F5344CB8AC3E}">
        <p14:creationId xmlns:p14="http://schemas.microsoft.com/office/powerpoint/2010/main" val="728963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7359A6-E459-F42C-DA5C-9CDA1B125DC8}"/>
              </a:ext>
            </a:extLst>
          </p:cNvPr>
          <p:cNvSpPr>
            <a:spLocks noGrp="1"/>
          </p:cNvSpPr>
          <p:nvPr>
            <p:ph type="dt" sz="half" idx="10"/>
          </p:nvPr>
        </p:nvSpPr>
        <p:spPr/>
        <p:txBody>
          <a:bodyPr/>
          <a:lstStyle/>
          <a:p>
            <a:fld id="{1BF41C19-B131-4F15-B3CF-AE56813DF9FA}" type="datetimeFigureOut">
              <a:rPr lang="en-US" smtClean="0"/>
              <a:t>2/26/2026</a:t>
            </a:fld>
            <a:endParaRPr lang="en-US"/>
          </a:p>
        </p:txBody>
      </p:sp>
      <p:sp>
        <p:nvSpPr>
          <p:cNvPr id="3" name="Footer Placeholder 2">
            <a:extLst>
              <a:ext uri="{FF2B5EF4-FFF2-40B4-BE49-F238E27FC236}">
                <a16:creationId xmlns:a16="http://schemas.microsoft.com/office/drawing/2014/main" id="{5F470B7C-68B2-E22E-8E26-95A7B9694B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263BFF-02DC-83E3-3492-9BCF1EBD2CB5}"/>
              </a:ext>
            </a:extLst>
          </p:cNvPr>
          <p:cNvSpPr>
            <a:spLocks noGrp="1"/>
          </p:cNvSpPr>
          <p:nvPr>
            <p:ph type="sldNum" sz="quarter" idx="12"/>
          </p:nvPr>
        </p:nvSpPr>
        <p:spPr/>
        <p:txBody>
          <a:bodyPr/>
          <a:lstStyle/>
          <a:p>
            <a:fld id="{133532AD-F9FA-4CC0-A23D-D2EA15A713DB}" type="slidenum">
              <a:rPr lang="en-US" smtClean="0"/>
              <a:t>‹#›</a:t>
            </a:fld>
            <a:endParaRPr lang="en-US"/>
          </a:p>
        </p:txBody>
      </p:sp>
    </p:spTree>
    <p:extLst>
      <p:ext uri="{BB962C8B-B14F-4D97-AF65-F5344CB8AC3E}">
        <p14:creationId xmlns:p14="http://schemas.microsoft.com/office/powerpoint/2010/main" val="632193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B6D63-F6E2-0F61-575E-FE2E27D2E2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3BA583-5BC2-2E46-B9A3-FB300E8D3A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D0DB4B-1D50-8E04-AD93-3A875FD699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A2644B-F3FB-3C10-2AC1-3A84A321EE4F}"/>
              </a:ext>
            </a:extLst>
          </p:cNvPr>
          <p:cNvSpPr>
            <a:spLocks noGrp="1"/>
          </p:cNvSpPr>
          <p:nvPr>
            <p:ph type="dt" sz="half" idx="10"/>
          </p:nvPr>
        </p:nvSpPr>
        <p:spPr/>
        <p:txBody>
          <a:bodyPr/>
          <a:lstStyle/>
          <a:p>
            <a:fld id="{1BF41C19-B131-4F15-B3CF-AE56813DF9FA}" type="datetimeFigureOut">
              <a:rPr lang="en-US" smtClean="0"/>
              <a:t>2/26/2026</a:t>
            </a:fld>
            <a:endParaRPr lang="en-US"/>
          </a:p>
        </p:txBody>
      </p:sp>
      <p:sp>
        <p:nvSpPr>
          <p:cNvPr id="6" name="Footer Placeholder 5">
            <a:extLst>
              <a:ext uri="{FF2B5EF4-FFF2-40B4-BE49-F238E27FC236}">
                <a16:creationId xmlns:a16="http://schemas.microsoft.com/office/drawing/2014/main" id="{DB4439BA-B21B-F0EF-FB72-592DB8FA50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A02ED-EC79-0253-97AF-033108297F87}"/>
              </a:ext>
            </a:extLst>
          </p:cNvPr>
          <p:cNvSpPr>
            <a:spLocks noGrp="1"/>
          </p:cNvSpPr>
          <p:nvPr>
            <p:ph type="sldNum" sz="quarter" idx="12"/>
          </p:nvPr>
        </p:nvSpPr>
        <p:spPr/>
        <p:txBody>
          <a:bodyPr/>
          <a:lstStyle/>
          <a:p>
            <a:fld id="{133532AD-F9FA-4CC0-A23D-D2EA15A713DB}" type="slidenum">
              <a:rPr lang="en-US" smtClean="0"/>
              <a:t>‹#›</a:t>
            </a:fld>
            <a:endParaRPr lang="en-US"/>
          </a:p>
        </p:txBody>
      </p:sp>
    </p:spTree>
    <p:extLst>
      <p:ext uri="{BB962C8B-B14F-4D97-AF65-F5344CB8AC3E}">
        <p14:creationId xmlns:p14="http://schemas.microsoft.com/office/powerpoint/2010/main" val="2494360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5F39C-F988-D8E4-A5EE-BE4222912C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9D05AC-6424-A157-65C7-4416D703A3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BC7406-A596-28E3-8378-C9E4E47F67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411847-9B08-8EEC-8698-241679A9B4BD}"/>
              </a:ext>
            </a:extLst>
          </p:cNvPr>
          <p:cNvSpPr>
            <a:spLocks noGrp="1"/>
          </p:cNvSpPr>
          <p:nvPr>
            <p:ph type="dt" sz="half" idx="10"/>
          </p:nvPr>
        </p:nvSpPr>
        <p:spPr/>
        <p:txBody>
          <a:bodyPr/>
          <a:lstStyle/>
          <a:p>
            <a:fld id="{1BF41C19-B131-4F15-B3CF-AE56813DF9FA}" type="datetimeFigureOut">
              <a:rPr lang="en-US" smtClean="0"/>
              <a:t>2/26/2026</a:t>
            </a:fld>
            <a:endParaRPr lang="en-US"/>
          </a:p>
        </p:txBody>
      </p:sp>
      <p:sp>
        <p:nvSpPr>
          <p:cNvPr id="6" name="Footer Placeholder 5">
            <a:extLst>
              <a:ext uri="{FF2B5EF4-FFF2-40B4-BE49-F238E27FC236}">
                <a16:creationId xmlns:a16="http://schemas.microsoft.com/office/drawing/2014/main" id="{85C0AA7A-EE01-FE4A-47AE-9839DEAB6F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2D19EF-9CE1-A823-6950-C65DD6AE8CAE}"/>
              </a:ext>
            </a:extLst>
          </p:cNvPr>
          <p:cNvSpPr>
            <a:spLocks noGrp="1"/>
          </p:cNvSpPr>
          <p:nvPr>
            <p:ph type="sldNum" sz="quarter" idx="12"/>
          </p:nvPr>
        </p:nvSpPr>
        <p:spPr/>
        <p:txBody>
          <a:bodyPr/>
          <a:lstStyle/>
          <a:p>
            <a:fld id="{133532AD-F9FA-4CC0-A23D-D2EA15A713DB}" type="slidenum">
              <a:rPr lang="en-US" smtClean="0"/>
              <a:t>‹#›</a:t>
            </a:fld>
            <a:endParaRPr lang="en-US"/>
          </a:p>
        </p:txBody>
      </p:sp>
    </p:spTree>
    <p:extLst>
      <p:ext uri="{BB962C8B-B14F-4D97-AF65-F5344CB8AC3E}">
        <p14:creationId xmlns:p14="http://schemas.microsoft.com/office/powerpoint/2010/main" val="3989269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65DA7-0252-23D9-BF00-B6AB91B6F3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1923C6-5F1A-4944-3F97-4C56F53837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DD52FD-E054-2738-9FB7-0185728224C4}"/>
              </a:ext>
            </a:extLst>
          </p:cNvPr>
          <p:cNvSpPr>
            <a:spLocks noGrp="1"/>
          </p:cNvSpPr>
          <p:nvPr>
            <p:ph type="dt" sz="half" idx="10"/>
          </p:nvPr>
        </p:nvSpPr>
        <p:spPr/>
        <p:txBody>
          <a:bodyPr/>
          <a:lstStyle/>
          <a:p>
            <a:fld id="{1BF41C19-B131-4F15-B3CF-AE56813DF9FA}" type="datetimeFigureOut">
              <a:rPr lang="en-US" smtClean="0"/>
              <a:t>2/26/2026</a:t>
            </a:fld>
            <a:endParaRPr lang="en-US"/>
          </a:p>
        </p:txBody>
      </p:sp>
      <p:sp>
        <p:nvSpPr>
          <p:cNvPr id="5" name="Footer Placeholder 4">
            <a:extLst>
              <a:ext uri="{FF2B5EF4-FFF2-40B4-BE49-F238E27FC236}">
                <a16:creationId xmlns:a16="http://schemas.microsoft.com/office/drawing/2014/main" id="{D7042296-CC47-A126-2771-EB23F05014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089D88-E308-F7FF-C2D1-244E67A755EE}"/>
              </a:ext>
            </a:extLst>
          </p:cNvPr>
          <p:cNvSpPr>
            <a:spLocks noGrp="1"/>
          </p:cNvSpPr>
          <p:nvPr>
            <p:ph type="sldNum" sz="quarter" idx="12"/>
          </p:nvPr>
        </p:nvSpPr>
        <p:spPr/>
        <p:txBody>
          <a:bodyPr/>
          <a:lstStyle/>
          <a:p>
            <a:fld id="{133532AD-F9FA-4CC0-A23D-D2EA15A713DB}" type="slidenum">
              <a:rPr lang="en-US" smtClean="0"/>
              <a:t>‹#›</a:t>
            </a:fld>
            <a:endParaRPr lang="en-US"/>
          </a:p>
        </p:txBody>
      </p:sp>
    </p:spTree>
    <p:extLst>
      <p:ext uri="{BB962C8B-B14F-4D97-AF65-F5344CB8AC3E}">
        <p14:creationId xmlns:p14="http://schemas.microsoft.com/office/powerpoint/2010/main" val="4192830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3FFFC3-937E-2B29-B8F7-FA53958CBF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EE05FB-AB48-B03A-7473-2E5A799B16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23A0EB-5C44-F1C8-6841-0AFC0741039E}"/>
              </a:ext>
            </a:extLst>
          </p:cNvPr>
          <p:cNvSpPr>
            <a:spLocks noGrp="1"/>
          </p:cNvSpPr>
          <p:nvPr>
            <p:ph type="dt" sz="half" idx="10"/>
          </p:nvPr>
        </p:nvSpPr>
        <p:spPr/>
        <p:txBody>
          <a:bodyPr/>
          <a:lstStyle/>
          <a:p>
            <a:fld id="{1BF41C19-B131-4F15-B3CF-AE56813DF9FA}" type="datetimeFigureOut">
              <a:rPr lang="en-US" smtClean="0"/>
              <a:t>2/26/2026</a:t>
            </a:fld>
            <a:endParaRPr lang="en-US"/>
          </a:p>
        </p:txBody>
      </p:sp>
      <p:sp>
        <p:nvSpPr>
          <p:cNvPr id="5" name="Footer Placeholder 4">
            <a:extLst>
              <a:ext uri="{FF2B5EF4-FFF2-40B4-BE49-F238E27FC236}">
                <a16:creationId xmlns:a16="http://schemas.microsoft.com/office/drawing/2014/main" id="{99CB48CF-73BA-212D-1888-304D898D0B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794195-481F-EDC9-253F-F241938165E8}"/>
              </a:ext>
            </a:extLst>
          </p:cNvPr>
          <p:cNvSpPr>
            <a:spLocks noGrp="1"/>
          </p:cNvSpPr>
          <p:nvPr>
            <p:ph type="sldNum" sz="quarter" idx="12"/>
          </p:nvPr>
        </p:nvSpPr>
        <p:spPr/>
        <p:txBody>
          <a:bodyPr/>
          <a:lstStyle/>
          <a:p>
            <a:fld id="{133532AD-F9FA-4CC0-A23D-D2EA15A713DB}" type="slidenum">
              <a:rPr lang="en-US" smtClean="0"/>
              <a:t>‹#›</a:t>
            </a:fld>
            <a:endParaRPr lang="en-US"/>
          </a:p>
        </p:txBody>
      </p:sp>
    </p:spTree>
    <p:extLst>
      <p:ext uri="{BB962C8B-B14F-4D97-AF65-F5344CB8AC3E}">
        <p14:creationId xmlns:p14="http://schemas.microsoft.com/office/powerpoint/2010/main" val="1170630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07F863-DE44-0672-FAA2-10CE754235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07394CE-11D1-538B-6830-FB7F12A1EE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D6EF5D-F738-1E1E-3ACD-2332C1AE31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F41C19-B131-4F15-B3CF-AE56813DF9FA}" type="datetimeFigureOut">
              <a:rPr lang="en-US" smtClean="0"/>
              <a:t>2/26/2026</a:t>
            </a:fld>
            <a:endParaRPr lang="en-US"/>
          </a:p>
        </p:txBody>
      </p:sp>
      <p:sp>
        <p:nvSpPr>
          <p:cNvPr id="5" name="Footer Placeholder 4">
            <a:extLst>
              <a:ext uri="{FF2B5EF4-FFF2-40B4-BE49-F238E27FC236}">
                <a16:creationId xmlns:a16="http://schemas.microsoft.com/office/drawing/2014/main" id="{A8629BE1-F5E3-C05C-302E-208C32370B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3C4ED0A-0453-BEA3-E435-0FCEAA1E19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3532AD-F9FA-4CC0-A23D-D2EA15A713DB}" type="slidenum">
              <a:rPr lang="en-US" smtClean="0"/>
              <a:t>‹#›</a:t>
            </a:fld>
            <a:endParaRPr lang="en-US"/>
          </a:p>
        </p:txBody>
      </p:sp>
    </p:spTree>
    <p:extLst>
      <p:ext uri="{BB962C8B-B14F-4D97-AF65-F5344CB8AC3E}">
        <p14:creationId xmlns:p14="http://schemas.microsoft.com/office/powerpoint/2010/main" val="3962990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nist.gov/" TargetMode="External"/><Relationship Id="rId2" Type="http://schemas.openxmlformats.org/officeDocument/2006/relationships/hyperlink" Target="https://docs.github.com/" TargetMode="External"/><Relationship Id="rId1" Type="http://schemas.openxmlformats.org/officeDocument/2006/relationships/slideLayout" Target="../slideLayouts/slideLayout2.xml"/><Relationship Id="rId4" Type="http://schemas.openxmlformats.org/officeDocument/2006/relationships/hyperlink" Target="https://owasp.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1F6A26E-416B-3D97-09EA-F1407EEDE6B4}"/>
              </a:ext>
            </a:extLst>
          </p:cNvPr>
          <p:cNvSpPr>
            <a:spLocks noGrp="1"/>
          </p:cNvSpPr>
          <p:nvPr>
            <p:ph type="ctrTitle"/>
          </p:nvPr>
        </p:nvSpPr>
        <p:spPr>
          <a:xfrm>
            <a:off x="4162567" y="818984"/>
            <a:ext cx="6714699" cy="3178689"/>
          </a:xfrm>
        </p:spPr>
        <p:txBody>
          <a:bodyPr>
            <a:normAutofit/>
          </a:bodyPr>
          <a:lstStyle/>
          <a:p>
            <a:pPr algn="l"/>
            <a:r>
              <a:rPr lang="en-US" sz="4800">
                <a:solidFill>
                  <a:srgbClr val="FFFFFF"/>
                </a:solidFill>
              </a:rPr>
              <a:t>Security Controls in Shared Source Code Repositories</a:t>
            </a:r>
          </a:p>
        </p:txBody>
      </p:sp>
      <p:sp>
        <p:nvSpPr>
          <p:cNvPr id="22" name="Rectangle 21">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5556901-61F0-CB46-95C4-8BF026BBF958}"/>
              </a:ext>
            </a:extLst>
          </p:cNvPr>
          <p:cNvSpPr>
            <a:spLocks noGrp="1"/>
          </p:cNvSpPr>
          <p:nvPr>
            <p:ph type="subTitle" idx="1"/>
          </p:nvPr>
        </p:nvSpPr>
        <p:spPr>
          <a:xfrm>
            <a:off x="4285397" y="4960961"/>
            <a:ext cx="7055893" cy="1078054"/>
          </a:xfrm>
        </p:spPr>
        <p:txBody>
          <a:bodyPr>
            <a:normAutofit/>
          </a:bodyPr>
          <a:lstStyle/>
          <a:p>
            <a:pPr algn="l"/>
            <a:r>
              <a:rPr lang="en-US" sz="1700">
                <a:solidFill>
                  <a:srgbClr val="FFFFFF"/>
                </a:solidFill>
              </a:rPr>
              <a:t>Written by Cannon Rivera</a:t>
            </a:r>
          </a:p>
          <a:p>
            <a:pPr algn="l"/>
            <a:r>
              <a:rPr lang="en-US" sz="1700">
                <a:solidFill>
                  <a:srgbClr val="FFFFFF"/>
                </a:solidFill>
              </a:rPr>
              <a:t>2/26/2026</a:t>
            </a:r>
          </a:p>
          <a:p>
            <a:pPr algn="l"/>
            <a:r>
              <a:rPr lang="en-US" sz="1700">
                <a:solidFill>
                  <a:srgbClr val="FFFFFF"/>
                </a:solidFill>
              </a:rPr>
              <a:t>CSD380-T301 DevOps</a:t>
            </a:r>
          </a:p>
        </p:txBody>
      </p:sp>
    </p:spTree>
    <p:extLst>
      <p:ext uri="{BB962C8B-B14F-4D97-AF65-F5344CB8AC3E}">
        <p14:creationId xmlns:p14="http://schemas.microsoft.com/office/powerpoint/2010/main" val="2251327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type="wd">
                                    <p:tmPct val="15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1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000"/>
                                  </p:stCondLst>
                                  <p:iterate type="wd">
                                    <p:tmPct val="15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26DBF2-FB75-EC63-4268-CCCF8FB16036}"/>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Introduction to Shared Source Code Repository Security</a:t>
            </a:r>
          </a:p>
        </p:txBody>
      </p:sp>
      <p:sp>
        <p:nvSpPr>
          <p:cNvPr id="3" name="Content Placeholder 2">
            <a:extLst>
              <a:ext uri="{FF2B5EF4-FFF2-40B4-BE49-F238E27FC236}">
                <a16:creationId xmlns:a16="http://schemas.microsoft.com/office/drawing/2014/main" id="{E326D054-2745-8798-0A41-27A859103991}"/>
              </a:ext>
            </a:extLst>
          </p:cNvPr>
          <p:cNvSpPr>
            <a:spLocks noGrp="1"/>
          </p:cNvSpPr>
          <p:nvPr>
            <p:ph idx="1"/>
          </p:nvPr>
        </p:nvSpPr>
        <p:spPr>
          <a:xfrm>
            <a:off x="6503158" y="649480"/>
            <a:ext cx="4862447" cy="5546047"/>
          </a:xfrm>
        </p:spPr>
        <p:txBody>
          <a:bodyPr anchor="ctr">
            <a:normAutofit/>
          </a:bodyPr>
          <a:lstStyle/>
          <a:p>
            <a:r>
              <a:rPr lang="en-US" sz="2000"/>
              <a:t>Shared source code repositories such as GitHub, GitLab, and Bitbucket allow multiple developers to collaborate on software projects. These repositories often contain sensitive intellectual property, credentials, and application logic. Without proper security controls, attackers could steal code, insert malicious changes, or expose confidential information. Implementing strong security controls helps protect code confidentiality, integrity, and availability, which are core principles of information security.</a:t>
            </a:r>
          </a:p>
        </p:txBody>
      </p:sp>
    </p:spTree>
    <p:extLst>
      <p:ext uri="{BB962C8B-B14F-4D97-AF65-F5344CB8AC3E}">
        <p14:creationId xmlns:p14="http://schemas.microsoft.com/office/powerpoint/2010/main" val="4049253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5A3443-163F-1262-2F70-A1B7FF8E7857}"/>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Importance of Repository Security</a:t>
            </a:r>
          </a:p>
        </p:txBody>
      </p:sp>
      <p:sp>
        <p:nvSpPr>
          <p:cNvPr id="3" name="Content Placeholder 2">
            <a:extLst>
              <a:ext uri="{FF2B5EF4-FFF2-40B4-BE49-F238E27FC236}">
                <a16:creationId xmlns:a16="http://schemas.microsoft.com/office/drawing/2014/main" id="{9EB8E8AA-13E8-4EA3-A8CC-F1636C4F15DF}"/>
              </a:ext>
            </a:extLst>
          </p:cNvPr>
          <p:cNvSpPr>
            <a:spLocks noGrp="1"/>
          </p:cNvSpPr>
          <p:nvPr>
            <p:ph idx="1"/>
          </p:nvPr>
        </p:nvSpPr>
        <p:spPr>
          <a:xfrm>
            <a:off x="1371599" y="2318197"/>
            <a:ext cx="9724031" cy="3683358"/>
          </a:xfrm>
        </p:spPr>
        <p:txBody>
          <a:bodyPr anchor="ctr">
            <a:normAutofit/>
          </a:bodyPr>
          <a:lstStyle/>
          <a:p>
            <a:r>
              <a:rPr lang="en-US" sz="2000"/>
              <a:t>Source code repositories are a common target for cyberattacks because they contain valuable code and sensitive information. If attackers gain access, they could steal proprietary algorithms or insert malicious code into software. For example, attackers may insert backdoors into source code that later affect users of the software. With security controls, you can prevent unauthorized access and protect the integrity of software throughout the development lifecycle.</a:t>
            </a:r>
          </a:p>
        </p:txBody>
      </p:sp>
    </p:spTree>
    <p:extLst>
      <p:ext uri="{BB962C8B-B14F-4D97-AF65-F5344CB8AC3E}">
        <p14:creationId xmlns:p14="http://schemas.microsoft.com/office/powerpoint/2010/main" val="4065446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D52CE8-01D4-770F-CB37-B433C99BABDB}"/>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Access Control and Authentication</a:t>
            </a:r>
          </a:p>
        </p:txBody>
      </p:sp>
      <p:sp>
        <p:nvSpPr>
          <p:cNvPr id="3" name="Content Placeholder 2">
            <a:extLst>
              <a:ext uri="{FF2B5EF4-FFF2-40B4-BE49-F238E27FC236}">
                <a16:creationId xmlns:a16="http://schemas.microsoft.com/office/drawing/2014/main" id="{7D8256B8-584F-D8AC-458C-118848C9B645}"/>
              </a:ext>
            </a:extLst>
          </p:cNvPr>
          <p:cNvSpPr>
            <a:spLocks noGrp="1"/>
          </p:cNvSpPr>
          <p:nvPr>
            <p:ph idx="1"/>
          </p:nvPr>
        </p:nvSpPr>
        <p:spPr>
          <a:xfrm>
            <a:off x="1371599" y="2318197"/>
            <a:ext cx="9724031" cy="3683358"/>
          </a:xfrm>
        </p:spPr>
        <p:txBody>
          <a:bodyPr anchor="ctr">
            <a:normAutofit/>
          </a:bodyPr>
          <a:lstStyle/>
          <a:p>
            <a:r>
              <a:rPr lang="en-US" sz="2000"/>
              <a:t>Access control ensures that only authorized users can access and modify source code. Organizations should apply the principle of least privilege, meaning users only have access to what they need. Multi-factor authentication (MFA) adds an extra layer of protection by requiring users to verify their identity using something other than a password, such as an email or a phone code or an external app. A common app is Microsoft Authenticator.</a:t>
            </a:r>
          </a:p>
          <a:p>
            <a:endParaRPr lang="en-US" sz="2000"/>
          </a:p>
        </p:txBody>
      </p:sp>
    </p:spTree>
    <p:extLst>
      <p:ext uri="{BB962C8B-B14F-4D97-AF65-F5344CB8AC3E}">
        <p14:creationId xmlns:p14="http://schemas.microsoft.com/office/powerpoint/2010/main" val="2349140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6DAAA9-DF17-C423-B325-B9949070DAC6}"/>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Branch Protection</a:t>
            </a:r>
          </a:p>
        </p:txBody>
      </p:sp>
      <p:sp>
        <p:nvSpPr>
          <p:cNvPr id="3" name="Content Placeholder 2">
            <a:extLst>
              <a:ext uri="{FF2B5EF4-FFF2-40B4-BE49-F238E27FC236}">
                <a16:creationId xmlns:a16="http://schemas.microsoft.com/office/drawing/2014/main" id="{F8474266-129C-6981-F9DC-4957561E8319}"/>
              </a:ext>
            </a:extLst>
          </p:cNvPr>
          <p:cNvSpPr>
            <a:spLocks noGrp="1"/>
          </p:cNvSpPr>
          <p:nvPr>
            <p:ph idx="1"/>
          </p:nvPr>
        </p:nvSpPr>
        <p:spPr>
          <a:xfrm>
            <a:off x="1371599" y="2318197"/>
            <a:ext cx="9724031" cy="3683358"/>
          </a:xfrm>
        </p:spPr>
        <p:txBody>
          <a:bodyPr anchor="ctr">
            <a:normAutofit/>
          </a:bodyPr>
          <a:lstStyle/>
          <a:p>
            <a:r>
              <a:rPr lang="en-US" sz="2000"/>
              <a:t>Branch protection prevents unauthorized or unreviewed changes to critical branches like the main branch. You can do this by allowing permission for only 1 person to push branches in GitHub. Forcing Code Review from a second person.</a:t>
            </a:r>
          </a:p>
        </p:txBody>
      </p:sp>
    </p:spTree>
    <p:extLst>
      <p:ext uri="{BB962C8B-B14F-4D97-AF65-F5344CB8AC3E}">
        <p14:creationId xmlns:p14="http://schemas.microsoft.com/office/powerpoint/2010/main" val="3737104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4FB20E-4834-C64C-F322-D6EAC8675793}"/>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Using Secrets</a:t>
            </a:r>
          </a:p>
        </p:txBody>
      </p:sp>
      <p:sp>
        <p:nvSpPr>
          <p:cNvPr id="3" name="Content Placeholder 2">
            <a:extLst>
              <a:ext uri="{FF2B5EF4-FFF2-40B4-BE49-F238E27FC236}">
                <a16:creationId xmlns:a16="http://schemas.microsoft.com/office/drawing/2014/main" id="{879603B9-845A-9596-136B-D36286B126CA}"/>
              </a:ext>
            </a:extLst>
          </p:cNvPr>
          <p:cNvSpPr>
            <a:spLocks noGrp="1"/>
          </p:cNvSpPr>
          <p:nvPr>
            <p:ph idx="1"/>
          </p:nvPr>
        </p:nvSpPr>
        <p:spPr>
          <a:xfrm>
            <a:off x="1371599" y="2318197"/>
            <a:ext cx="9724031" cy="3683358"/>
          </a:xfrm>
        </p:spPr>
        <p:txBody>
          <a:bodyPr anchor="ctr">
            <a:normAutofit/>
          </a:bodyPr>
          <a:lstStyle/>
          <a:p>
            <a:r>
              <a:rPr lang="en-US" sz="2000"/>
              <a:t>Secrets is a type of tool that hides Sensitive information such as passwords, API keys, and database credentials that should never be stored directly in source code. For example, AWS Secrets Manager allows developers to securely store and retrieve credentials without exposing them in code.</a:t>
            </a:r>
          </a:p>
        </p:txBody>
      </p:sp>
    </p:spTree>
    <p:extLst>
      <p:ext uri="{BB962C8B-B14F-4D97-AF65-F5344CB8AC3E}">
        <p14:creationId xmlns:p14="http://schemas.microsoft.com/office/powerpoint/2010/main" val="3135873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03E9E5-280D-FC3F-EF6E-A50383E4E31E}"/>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Code Signing</a:t>
            </a:r>
          </a:p>
        </p:txBody>
      </p:sp>
      <p:sp>
        <p:nvSpPr>
          <p:cNvPr id="3" name="Content Placeholder 2">
            <a:extLst>
              <a:ext uri="{FF2B5EF4-FFF2-40B4-BE49-F238E27FC236}">
                <a16:creationId xmlns:a16="http://schemas.microsoft.com/office/drawing/2014/main" id="{CB0D039E-3D20-C0A8-8493-2B1FF4BDA686}"/>
              </a:ext>
            </a:extLst>
          </p:cNvPr>
          <p:cNvSpPr>
            <a:spLocks noGrp="1"/>
          </p:cNvSpPr>
          <p:nvPr>
            <p:ph idx="1"/>
          </p:nvPr>
        </p:nvSpPr>
        <p:spPr>
          <a:xfrm>
            <a:off x="1371599" y="2318197"/>
            <a:ext cx="9724031" cy="3683358"/>
          </a:xfrm>
        </p:spPr>
        <p:txBody>
          <a:bodyPr anchor="ctr">
            <a:normAutofit/>
          </a:bodyPr>
          <a:lstStyle/>
          <a:p>
            <a:r>
              <a:rPr lang="en-US" sz="2000"/>
              <a:t>Code signing uses signatures to verify that code has not been altered and comes from a trusted source. Signed commits and releases help ensure authenticity and integrity. For example, developers can use Git commit signing with GPG keys to verify their identity. If code is modified by an outsider, the signature will not match, alerting developers to potential tampering.</a:t>
            </a:r>
          </a:p>
        </p:txBody>
      </p:sp>
    </p:spTree>
    <p:extLst>
      <p:ext uri="{BB962C8B-B14F-4D97-AF65-F5344CB8AC3E}">
        <p14:creationId xmlns:p14="http://schemas.microsoft.com/office/powerpoint/2010/main" val="3162505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B86ED8-C8C0-00E5-2196-AC2A6E46BD01}"/>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Summary</a:t>
            </a:r>
          </a:p>
        </p:txBody>
      </p:sp>
      <p:sp>
        <p:nvSpPr>
          <p:cNvPr id="3" name="Content Placeholder 2">
            <a:extLst>
              <a:ext uri="{FF2B5EF4-FFF2-40B4-BE49-F238E27FC236}">
                <a16:creationId xmlns:a16="http://schemas.microsoft.com/office/drawing/2014/main" id="{016ACE37-F280-75DF-EE33-28FBCCE77B4F}"/>
              </a:ext>
            </a:extLst>
          </p:cNvPr>
          <p:cNvSpPr>
            <a:spLocks noGrp="1"/>
          </p:cNvSpPr>
          <p:nvPr>
            <p:ph idx="1"/>
          </p:nvPr>
        </p:nvSpPr>
        <p:spPr>
          <a:xfrm>
            <a:off x="6503158" y="649480"/>
            <a:ext cx="4862447" cy="5546047"/>
          </a:xfrm>
        </p:spPr>
        <p:txBody>
          <a:bodyPr anchor="ctr">
            <a:normAutofit/>
          </a:bodyPr>
          <a:lstStyle/>
          <a:p>
            <a:r>
              <a:rPr lang="en-US" sz="2000"/>
              <a:t>Security controls in shared source code repositories are essential for protecting software and organizational assets. Some Important examples of this include access control, multi-factor authentication, branch protection, secrets management, and code signing. These measures help prevent unauthorized access, detect vulnerabilities, and maintain the integrity of software. By implementing these best practices, organizations can reduce the risk of cyberattacks and protect their development environments.</a:t>
            </a:r>
          </a:p>
        </p:txBody>
      </p:sp>
    </p:spTree>
    <p:extLst>
      <p:ext uri="{BB962C8B-B14F-4D97-AF65-F5344CB8AC3E}">
        <p14:creationId xmlns:p14="http://schemas.microsoft.com/office/powerpoint/2010/main" val="1547991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7C78258-4F4C-AFB8-6EE9-63D448637A88}"/>
              </a:ext>
            </a:extLst>
          </p:cNvPr>
          <p:cNvSpPr>
            <a:spLocks noGrp="1"/>
          </p:cNvSpPr>
          <p:nvPr>
            <p:ph type="title"/>
          </p:nvPr>
        </p:nvSpPr>
        <p:spPr>
          <a:xfrm>
            <a:off x="786385" y="841248"/>
            <a:ext cx="5129600" cy="5340097"/>
          </a:xfrm>
        </p:spPr>
        <p:txBody>
          <a:bodyPr anchor="ctr">
            <a:normAutofit/>
          </a:bodyPr>
          <a:lstStyle/>
          <a:p>
            <a:r>
              <a:rPr lang="en-US" sz="4800">
                <a:solidFill>
                  <a:schemeClr val="bg1"/>
                </a:solidFill>
              </a:rPr>
              <a:t>References</a:t>
            </a:r>
          </a:p>
        </p:txBody>
      </p:sp>
      <p:sp>
        <p:nvSpPr>
          <p:cNvPr id="3" name="Content Placeholder 2">
            <a:extLst>
              <a:ext uri="{FF2B5EF4-FFF2-40B4-BE49-F238E27FC236}">
                <a16:creationId xmlns:a16="http://schemas.microsoft.com/office/drawing/2014/main" id="{504DD478-B08A-B74B-3979-92C72012DE9F}"/>
              </a:ext>
            </a:extLst>
          </p:cNvPr>
          <p:cNvSpPr>
            <a:spLocks noGrp="1"/>
          </p:cNvSpPr>
          <p:nvPr>
            <p:ph idx="1"/>
          </p:nvPr>
        </p:nvSpPr>
        <p:spPr>
          <a:xfrm>
            <a:off x="6464410" y="841247"/>
            <a:ext cx="4484536" cy="5340097"/>
          </a:xfrm>
        </p:spPr>
        <p:txBody>
          <a:bodyPr anchor="ctr">
            <a:normAutofit/>
          </a:bodyPr>
          <a:lstStyle/>
          <a:p>
            <a:r>
              <a:rPr lang="en-US" sz="1800">
                <a:solidFill>
                  <a:schemeClr val="tx2"/>
                </a:solidFill>
              </a:rPr>
              <a:t>GitHub Docs. (n.d.). </a:t>
            </a:r>
            <a:r>
              <a:rPr lang="en-US" sz="1800" i="1">
                <a:solidFill>
                  <a:schemeClr val="tx2"/>
                </a:solidFill>
              </a:rPr>
              <a:t>About protected branches.</a:t>
            </a:r>
            <a:r>
              <a:rPr lang="en-US" sz="1800">
                <a:solidFill>
                  <a:schemeClr val="tx2"/>
                </a:solidFill>
              </a:rPr>
              <a:t> </a:t>
            </a:r>
            <a:r>
              <a:rPr lang="en-US" sz="1800">
                <a:solidFill>
                  <a:schemeClr val="tx2"/>
                </a:solidFill>
                <a:hlinkClick r:id="rId2"/>
              </a:rPr>
              <a:t>https://docs.github.com</a:t>
            </a:r>
            <a:endParaRPr lang="en-US" sz="1800">
              <a:solidFill>
                <a:schemeClr val="tx2"/>
              </a:solidFill>
            </a:endParaRPr>
          </a:p>
          <a:p>
            <a:r>
              <a:rPr lang="en-US" sz="1800">
                <a:solidFill>
                  <a:schemeClr val="tx2"/>
                </a:solidFill>
              </a:rPr>
              <a:t>National Institute of Standards and Technology (NIST). (2020). </a:t>
            </a:r>
            <a:r>
              <a:rPr lang="en-US" sz="1800" i="1">
                <a:solidFill>
                  <a:schemeClr val="tx2"/>
                </a:solidFill>
              </a:rPr>
              <a:t>Secure software development framework (SSDF).</a:t>
            </a:r>
            <a:r>
              <a:rPr lang="en-US" sz="1800">
                <a:solidFill>
                  <a:schemeClr val="tx2"/>
                </a:solidFill>
              </a:rPr>
              <a:t> </a:t>
            </a:r>
            <a:r>
              <a:rPr lang="en-US" sz="1800">
                <a:solidFill>
                  <a:schemeClr val="tx2"/>
                </a:solidFill>
                <a:hlinkClick r:id="rId3"/>
              </a:rPr>
              <a:t>https://www.nist.gov</a:t>
            </a:r>
            <a:endParaRPr lang="en-US" sz="1800">
              <a:solidFill>
                <a:schemeClr val="tx2"/>
              </a:solidFill>
            </a:endParaRPr>
          </a:p>
          <a:p>
            <a:r>
              <a:rPr lang="en-US" sz="1800">
                <a:solidFill>
                  <a:schemeClr val="tx2"/>
                </a:solidFill>
              </a:rPr>
              <a:t>OWASP Foundation. (n.d.). </a:t>
            </a:r>
            <a:r>
              <a:rPr lang="en-US" sz="1800" i="1">
                <a:solidFill>
                  <a:schemeClr val="tx2"/>
                </a:solidFill>
              </a:rPr>
              <a:t>Secure coding practices.</a:t>
            </a:r>
            <a:r>
              <a:rPr lang="en-US" sz="1800">
                <a:solidFill>
                  <a:schemeClr val="tx2"/>
                </a:solidFill>
              </a:rPr>
              <a:t> </a:t>
            </a:r>
            <a:r>
              <a:rPr lang="en-US" sz="1800">
                <a:solidFill>
                  <a:schemeClr val="tx2"/>
                </a:solidFill>
                <a:hlinkClick r:id="rId4"/>
              </a:rPr>
              <a:t>https://owasp.org</a:t>
            </a:r>
            <a:endParaRPr lang="en-US" sz="1800">
              <a:solidFill>
                <a:schemeClr val="tx2"/>
              </a:solidFill>
            </a:endParaRPr>
          </a:p>
          <a:p>
            <a:endParaRPr lang="en-US" sz="1800">
              <a:solidFill>
                <a:schemeClr val="tx2"/>
              </a:solidFill>
            </a:endParaRPr>
          </a:p>
        </p:txBody>
      </p:sp>
    </p:spTree>
    <p:extLst>
      <p:ext uri="{BB962C8B-B14F-4D97-AF65-F5344CB8AC3E}">
        <p14:creationId xmlns:p14="http://schemas.microsoft.com/office/powerpoint/2010/main" val="3349078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556</Words>
  <Application>Microsoft Office PowerPoint</Application>
  <PresentationFormat>Widescreen</PresentationFormat>
  <Paragraphs>22</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Security Controls in Shared Source Code Repositories</vt:lpstr>
      <vt:lpstr>Introduction to Shared Source Code Repository Security</vt:lpstr>
      <vt:lpstr>Importance of Repository Security</vt:lpstr>
      <vt:lpstr>Access Control and Authentication</vt:lpstr>
      <vt:lpstr>Branch Protection</vt:lpstr>
      <vt:lpstr>Using Secrets</vt:lpstr>
      <vt:lpstr>Code Signing</vt:lpstr>
      <vt:lpstr>Summary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Cannon Rivera</dc:creator>
  <cp:lastModifiedBy>Cannon Rivera</cp:lastModifiedBy>
  <cp:revision>1</cp:revision>
  <dcterms:created xsi:type="dcterms:W3CDTF">2026-02-27T01:49:55Z</dcterms:created>
  <dcterms:modified xsi:type="dcterms:W3CDTF">2026-02-27T02:29:54Z</dcterms:modified>
</cp:coreProperties>
</file>